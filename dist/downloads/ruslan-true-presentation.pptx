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ff1904f2754f41" /><Relationship Type="http://schemas.openxmlformats.org/officeDocument/2006/relationships/extended-properties" Target="/docProps/app.xml" Id="R348af43913d1440c" /><Relationship Type="http://schemas.openxmlformats.org/officeDocument/2006/relationships/officeDocument" Target="/ppt/presentation.xml" Id="Ref1d215fc9104a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19d81e148945b7"/>
  </p:sldMasterIdLst>
  <p:notesMasterIdLst>
    <p:notesMasterId xmlns:r="http://schemas.openxmlformats.org/officeDocument/2006/relationships" r:id="Re6f149b29b604f73"/>
  </p:notesMasterIdLst>
  <p:sldIdLst>
    <p:sldId xmlns:r="http://schemas.openxmlformats.org/officeDocument/2006/relationships" id="256" r:id="R15c4febdeb25445c"/>
    <p:sldId xmlns:r="http://schemas.openxmlformats.org/officeDocument/2006/relationships" id="257" r:id="R73468238ea00471c"/>
    <p:sldId xmlns:r="http://schemas.openxmlformats.org/officeDocument/2006/relationships" id="258" r:id="R992f12355c8348d5"/>
    <p:sldId xmlns:r="http://schemas.openxmlformats.org/officeDocument/2006/relationships" id="259" r:id="Rd732a3a5d86c4b99"/>
    <p:sldId xmlns:r="http://schemas.openxmlformats.org/officeDocument/2006/relationships" id="260" r:id="R4085af91e5e54ab8"/>
    <p:sldId xmlns:r="http://schemas.openxmlformats.org/officeDocument/2006/relationships" id="261" r:id="R49499b0aecab4a06"/>
    <p:sldId xmlns:r="http://schemas.openxmlformats.org/officeDocument/2006/relationships" id="262" r:id="R6af0fb31c2c5416d"/>
    <p:sldId xmlns:r="http://schemas.openxmlformats.org/officeDocument/2006/relationships" id="263" r:id="R41151af3318044a6"/>
    <p:sldId xmlns:r="http://schemas.openxmlformats.org/officeDocument/2006/relationships" id="264" r:id="R87c6cac342614758"/>
    <p:sldId xmlns:r="http://schemas.openxmlformats.org/officeDocument/2006/relationships" id="265" r:id="R5446e6b96dbd4d6c"/>
    <p:sldId xmlns:r="http://schemas.openxmlformats.org/officeDocument/2006/relationships" id="266" r:id="R37516ea5011e4ca9"/>
    <p:sldId xmlns:r="http://schemas.openxmlformats.org/officeDocument/2006/relationships" id="267" r:id="R20630be54b1640c1"/>
    <p:sldId xmlns:r="http://schemas.openxmlformats.org/officeDocument/2006/relationships" id="268" r:id="R624196a5a209434a"/>
    <p:sldId xmlns:r="http://schemas.openxmlformats.org/officeDocument/2006/relationships" id="269" r:id="R33885c61b3344281"/>
    <p:sldId xmlns:r="http://schemas.openxmlformats.org/officeDocument/2006/relationships" id="270" r:id="Ra8748f7217014b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71d8a529604462" /><Relationship Type="http://schemas.openxmlformats.org/officeDocument/2006/relationships/slideMaster" Target="/ppt/slideMasters/slideMaster1.xml" Id="R6519d81e148945b7" /><Relationship Type="http://schemas.openxmlformats.org/officeDocument/2006/relationships/notesMaster" Target="/ppt/notesMasters/notesMaster1.xml" Id="Re6f149b29b604f73" /><Relationship Type="http://schemas.openxmlformats.org/officeDocument/2006/relationships/presProps" Target="/ppt/presProps.xml" Id="R3c04051c0f514b58" /><Relationship Type="http://schemas.openxmlformats.org/officeDocument/2006/relationships/tableStyles" Target="/ppt/tableStyles.xml" Id="R1cd2d48ab01a4c6a" /><Relationship Type="http://schemas.openxmlformats.org/officeDocument/2006/relationships/slide" Target="/ppt/slides/slide1.xml" Id="R15c4febdeb25445c" /><Relationship Type="http://schemas.openxmlformats.org/officeDocument/2006/relationships/slide" Target="/ppt/slides/slide2.xml" Id="R73468238ea00471c" /><Relationship Type="http://schemas.openxmlformats.org/officeDocument/2006/relationships/slide" Target="/ppt/slides/slide3.xml" Id="R992f12355c8348d5" /><Relationship Type="http://schemas.openxmlformats.org/officeDocument/2006/relationships/slide" Target="/ppt/slides/slide4.xml" Id="Rd732a3a5d86c4b99" /><Relationship Type="http://schemas.openxmlformats.org/officeDocument/2006/relationships/slide" Target="/ppt/slides/slide5.xml" Id="R4085af91e5e54ab8" /><Relationship Type="http://schemas.openxmlformats.org/officeDocument/2006/relationships/slide" Target="/ppt/slides/slide6.xml" Id="R49499b0aecab4a06" /><Relationship Type="http://schemas.openxmlformats.org/officeDocument/2006/relationships/slide" Target="/ppt/slides/slide7.xml" Id="R6af0fb31c2c5416d" /><Relationship Type="http://schemas.openxmlformats.org/officeDocument/2006/relationships/slide" Target="/ppt/slides/slide8.xml" Id="R41151af3318044a6" /><Relationship Type="http://schemas.openxmlformats.org/officeDocument/2006/relationships/slide" Target="/ppt/slides/slide9.xml" Id="R87c6cac342614758" /><Relationship Type="http://schemas.openxmlformats.org/officeDocument/2006/relationships/slide" Target="/ppt/slides/slide10.xml" Id="R5446e6b96dbd4d6c" /><Relationship Type="http://schemas.openxmlformats.org/officeDocument/2006/relationships/slide" Target="/ppt/slides/slide11.xml" Id="R37516ea5011e4ca9" /><Relationship Type="http://schemas.openxmlformats.org/officeDocument/2006/relationships/slide" Target="/ppt/slides/slide12.xml" Id="R20630be54b1640c1" /><Relationship Type="http://schemas.openxmlformats.org/officeDocument/2006/relationships/slide" Target="/ppt/slides/slide13.xml" Id="R624196a5a209434a" /><Relationship Type="http://schemas.openxmlformats.org/officeDocument/2006/relationships/slide" Target="/ppt/slides/slide14.xml" Id="R33885c61b3344281" /><Relationship Type="http://schemas.openxmlformats.org/officeDocument/2006/relationships/slide" Target="/ppt/slides/slide15.xml" Id="Ra8748f7217014b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d251542e064e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05933e4bfa4397" /><Relationship Type="http://schemas.openxmlformats.org/officeDocument/2006/relationships/notesMaster" Target="/ppt/notesMasters/notesMaster1.xml" Id="Rf9ada4948d124c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d8d2a6725b4e62" /><Relationship Type="http://schemas.openxmlformats.org/officeDocument/2006/relationships/notesMaster" Target="/ppt/notesMasters/notesMaster1.xml" Id="Rf3bf78cc234442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a47418722646b9" /><Relationship Type="http://schemas.openxmlformats.org/officeDocument/2006/relationships/notesMaster" Target="/ppt/notesMasters/notesMaster1.xml" Id="R33f55f2cc8894e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81331548d24940" /><Relationship Type="http://schemas.openxmlformats.org/officeDocument/2006/relationships/notesMaster" Target="/ppt/notesMasters/notesMaster1.xml" Id="Rd42dd3ee13d34d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5e8df14f644432" /><Relationship Type="http://schemas.openxmlformats.org/officeDocument/2006/relationships/notesMaster" Target="/ppt/notesMasters/notesMaster1.xml" Id="Rbe2d8d3de31142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d84f41d1df4203" /><Relationship Type="http://schemas.openxmlformats.org/officeDocument/2006/relationships/notesMaster" Target="/ppt/notesMasters/notesMaster1.xml" Id="R1faa4e02e28247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c2cac156644634" /><Relationship Type="http://schemas.openxmlformats.org/officeDocument/2006/relationships/notesMaster" Target="/ppt/notesMasters/notesMaster1.xml" Id="Rd3955f17711d4f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c1e4a354444263" /><Relationship Type="http://schemas.openxmlformats.org/officeDocument/2006/relationships/notesMaster" Target="/ppt/notesMasters/notesMaster1.xml" Id="R42806b932a0042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846a88fa644c18" /><Relationship Type="http://schemas.openxmlformats.org/officeDocument/2006/relationships/notesMaster" Target="/ppt/notesMasters/notesMaster1.xml" Id="R280646dd94cc48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4d81fd149c4a37" /><Relationship Type="http://schemas.openxmlformats.org/officeDocument/2006/relationships/notesMaster" Target="/ppt/notesMasters/notesMaster1.xml" Id="Re5fdbf4284964d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513894842a4a3e" /><Relationship Type="http://schemas.openxmlformats.org/officeDocument/2006/relationships/notesMaster" Target="/ppt/notesMasters/notesMaster1.xml" Id="R1d6fb4bb48794d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46f32867e4493c" /><Relationship Type="http://schemas.openxmlformats.org/officeDocument/2006/relationships/notesMaster" Target="/ppt/notesMasters/notesMaster1.xml" Id="Rf897f0435e0b40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49521be3794a8e" /><Relationship Type="http://schemas.openxmlformats.org/officeDocument/2006/relationships/notesMaster" Target="/ppt/notesMasters/notesMaster1.xml" Id="R7d80e88794fc4b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023b5a606846d4" /><Relationship Type="http://schemas.openxmlformats.org/officeDocument/2006/relationships/notesMaster" Target="/ppt/notesMasters/notesMaster1.xml" Id="R73761671a3f14f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8fd01a4376f4b98" /><Relationship Type="http://schemas.openxmlformats.org/officeDocument/2006/relationships/notesMaster" Target="/ppt/notesMasters/notesMaster1.xml" Id="R95712ee5e70c47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Проект лендинга Руслана, барбера в Баку. Титульная фотография Unsplash: https://images.unsplash.com/photo-1503951914875-452162b0f3f1. Это атмосферное стоковое фото, не портрет или работа Руслана.</a:t>
            </a:r>
          </a:p>
          <a:p xmlns:a="http://schemas.openxmlformats.org/drawingml/2006/main">
            <a:r>
              <a:t>Источники: https://ruslantrue.onrender.com/ ; исходный код https://github.com/Velhedm/barber-site (версия с календарем 5f0d76e). Состояние на 26.10.2026. Данные прайса и телефон предоставлены заказчиком.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https://ruslantrue.onrender.com/ ; исходный код https://github.com/Velhedm/barber-site (версия с календарем 5f0d76e). Состояние на 26.10.2026. Данные прайса и телефон предоставлены заказчиком.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Скриншоты действующего сайта. Мобильный и десктопный варианты. Фотографии на сайте стоковые, об этом есть подписи.</a:t>
            </a:r>
          </a:p>
          <a:p xmlns:a="http://schemas.openxmlformats.org/drawingml/2006/main">
            <a:r>
              <a:t>Источники: https://ruslantrue.onrender.com/ ; исходный код https://github.com/Velhedm/barber-site (версия с календарем 5f0d76e). Состояние на 26.10.2026. Данные прайса и телефон предоставлены заказчиком.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https://ruslantrue.onrender.com/ ; исходный код https://github.com/Velhedm/barber-site (версия с календарем 5f0d76e). Состояние на 26.10.2026. Данные прайса и телефон предоставлены заказчиком.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https://ruslantrue.onrender.com/ ; исходный код https://github.com/Velhedm/barber-site (версия с календарем 5f0d76e). Состояние на 26.10.2026. Данные прайса и телефон предоставлены заказчиком.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Статический сайт на Render. main.js управляет формой и переводами, calendar.js календарем, settings.js прайсом и busySlots. Реального серверного бронирования нет. EmailJS предусмотрен в коде, но не настроен и не активен.</a:t>
            </a:r>
          </a:p>
          <a:p xmlns:a="http://schemas.openxmlformats.org/drawingml/2006/main">
            <a:r>
              <a:t>Источники: https://ruslantrue.onrender.com/ ; исходный код https://github.com/Velhedm/barber-site (версия с календарем 5f0d76e). Состояние на 26.10.2026. Данные прайса и телефон предоставлены заказчиком.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https://ruslantrue.onrender.com/ ; исходный код https://github.com/Velhedm/barber-site (версия с календарем 5f0d76e). Состояние на 26.10.2026. Данные прайса и телефон предоставлены заказчиком.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https://ruslantrue.onrender.com/ ; исходный код https://github.com/Velhedm/barber-site (версия с календарем 5f0d76e). Состояние на 26.10.2026. Данные прайса и телефон предоставлены заказчиком.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Реальный компонент с демонстрационно выбранной датой 01.11.2026 и временем 14:00. На момент демонстрации подтвержденные занятые часы в опубликованных настройках отсутствуют. Это не подтвержденная запись.</a:t>
            </a:r>
          </a:p>
          <a:p xmlns:a="http://schemas.openxmlformats.org/drawingml/2006/main">
            <a:r>
              <a:t>Источники: https://ruslantrue.onrender.com/ ; исходный код https://github.com/Velhedm/barber-site (версия с календарем 5f0d76e). Состояние на 26.10.2026. Данные прайса и телефон предоставлены заказчиком.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Иллюстративная проверка интерфейса в браузере: 26.10.2026, 09:30 по Баку, заняты 10:00 и 13:00, выбран 11:00. Время и busySlots изменены только в демонстрационной сессии, без публикации и отправки сообщений.</a:t>
            </a:r>
          </a:p>
          <a:p xmlns:a="http://schemas.openxmlformats.org/drawingml/2006/main">
            <a:r>
              <a:t>Источники: https://ruslantrue.onrender.com/ ; исходный код https://github.com/Velhedm/barber-site (версия с календарем 5f0d76e). Состояние на 26.10.2026. Данные прайса и телефон предоставлены заказчиком.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https://ruslantrue.onrender.com/ ; исходный код https://github.com/Velhedm/barber-site (версия с календарем 5f0d76e). Состояние на 26.10.2026. Данные прайса и телефон предоставлены заказчиком.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Сценарий пользовательского пути. Последний шаг выполняет мастер в переписке. Сайт не показывает автоматическое подтверждение и не резервирует слот при отправке формы.</a:t>
            </a:r>
          </a:p>
          <a:p xmlns:a="http://schemas.openxmlformats.org/drawingml/2006/main">
            <a:r>
              <a:t>Источники: https://ruslantrue.onrender.com/ ; исходный код https://github.com/Velhedm/barber-site (версия с календарем 5f0d76e). Состояние на 26.10.2026. Данные прайса и телефон предоставлены заказчиком.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Содержимое сообщения воспроизводит поля формы. Имя и номер клиента в примере вымышлены. Скриншот статуса реальной формы получен без перехода в WhatsApp и без отправки сообщения. Пример ответа мастера не является реальной перепиской.</a:t>
            </a:r>
          </a:p>
          <a:p xmlns:a="http://schemas.openxmlformats.org/drawingml/2006/main">
            <a:r>
              <a:t>Источники: https://ruslantrue.onrender.com/ ; исходный код https://github.com/Velhedm/barber-site (версия с календарем 5f0d76e). Состояние на 26.10.2026. Данные прайса и телефон предоставлены заказчиком.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https://ruslantrue.onrender.com/ ; исходный код https://github.com/Velhedm/barber-site (версия с календарем 5f0d76e). Состояние на 26.10.2026. Данные прайса и телефон предоставлены заказчиком.</a:t>
            </a:r>
          </a:p>
          <a:p xmlns:a="http://schemas.openxmlformats.org/drawingml/2006/main">
            <a:r>
              <a:t>Важно: данные занятости публичны. Хранятся только дата и часы, без имен и телефонов. Отправка заявки не закрывает слот автоматически. Одновременные заявки требуют ручного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https://ruslantrue.onrender.com/ ; исходный код https://github.com/Velhedm/barber-site (версия с календарем 5f0d76e). Состояние на 26.10.2026. Данные прайса и телефон предоставлены заказчиком.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5edddcc4d94f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dceecf8764e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f6d5bc2ea40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a7b85922b4e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eda386718f40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9228c889c443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F4FA0D-1521-454C-B326-4D4199BFB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93446F-0202-490F-8D38-23B2190654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006ECD0-8F96-462F-A879-C723C64EDC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6E25E3-CC66-4A9D-8C22-DD6BD4F2E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81D30DC-A8EA-487C-B806-13AA1E449A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9CAE73-6D62-4B40-80DB-365AA12A2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8497C4-FC49-4F3C-B358-DD4D6A5C56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BF019E-19DC-4B9E-A854-95BEBE43C3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06A225-024F-49DD-B506-A06D4964DE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742196-A5CB-454F-AAAD-88A7DA0124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c9059ec5d04c0d" /><Relationship Type="http://schemas.openxmlformats.org/officeDocument/2006/relationships/slideLayout" Target="/ppt/slideLayouts/slideLayout1.xml" Id="R233d1e696ac84896" /><Relationship Type="http://schemas.openxmlformats.org/officeDocument/2006/relationships/slideLayout" Target="/ppt/slideLayouts/slideLayout2.xml" Id="R108f8fc4a7774a4f" /><Relationship Type="http://schemas.openxmlformats.org/officeDocument/2006/relationships/slideLayout" Target="/ppt/slideLayouts/slideLayout3.xml" Id="Rce652cfe9f6c4e18" /><Relationship Type="http://schemas.openxmlformats.org/officeDocument/2006/relationships/slideLayout" Target="/ppt/slideLayouts/slideLayout4.xml" Id="Rc020b4b5fd5e4b79" /><Relationship Type="http://schemas.openxmlformats.org/officeDocument/2006/relationships/slideLayout" Target="/ppt/slideLayouts/slideLayout5.xml" Id="R8ef63bd06b214ef9" /><Relationship Type="http://schemas.openxmlformats.org/officeDocument/2006/relationships/slideLayout" Target="/ppt/slideLayouts/slideLayout6.xml" Id="R00fc8ca6a97b47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3d1e696ac84896"/>
    <p:sldLayoutId xmlns:r="http://schemas.openxmlformats.org/officeDocument/2006/relationships" id="2147483650" r:id="R108f8fc4a7774a4f"/>
    <p:sldLayoutId xmlns:r="http://schemas.openxmlformats.org/officeDocument/2006/relationships" id="2147483651" r:id="Rce652cfe9f6c4e18"/>
    <p:sldLayoutId xmlns:r="http://schemas.openxmlformats.org/officeDocument/2006/relationships" id="2147483652" r:id="Rc020b4b5fd5e4b79"/>
    <p:sldLayoutId xmlns:r="http://schemas.openxmlformats.org/officeDocument/2006/relationships" id="2147483653" r:id="R8ef63bd06b214ef9"/>
    <p:sldLayoutId xmlns:r="http://schemas.openxmlformats.org/officeDocument/2006/relationships" id="2147483654" r:id="R00fc8ca6a97b47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7630e76374b50" /><Relationship Type="http://schemas.openxmlformats.org/officeDocument/2006/relationships/image" Target="/ppt/media/image.jpeg" Id="Reed2459422434668" /><Relationship Type="http://schemas.openxmlformats.org/officeDocument/2006/relationships/notesSlide" Target="/ppt/notesSlides/notesSlide1.xml" Id="Ra7dccf31291e43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ffefe3108a49d2" /><Relationship Type="http://schemas.openxmlformats.org/officeDocument/2006/relationships/notesSlide" Target="/ppt/notesSlides/notesSlide2.xml" Id="Rf9076c06341a4f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85131fe66d4c6e" /><Relationship Type="http://schemas.openxmlformats.org/officeDocument/2006/relationships/image" Target="/ppt/media/image.png" Id="Rcb3a90dcb4ba4de7" /><Relationship Type="http://schemas.openxmlformats.org/officeDocument/2006/relationships/image" Target="/ppt/media/image2.png" Id="R6a4b94661df84680" /><Relationship Type="http://schemas.openxmlformats.org/officeDocument/2006/relationships/notesSlide" Target="/ppt/notesSlides/notesSlide3.xml" Id="R8045d7ed1d4c4e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c6c2bf7b4a4b70" /><Relationship Type="http://schemas.openxmlformats.org/officeDocument/2006/relationships/notesSlide" Target="/ppt/notesSlides/notesSlide4.xml" Id="Rd9272ecd4f264e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d67f1ccd46409e" /><Relationship Type="http://schemas.openxmlformats.org/officeDocument/2006/relationships/notesSlide" Target="/ppt/notesSlides/notesSlide5.xml" Id="Rc83ecb855f3249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5d7328244f4c3c" /><Relationship Type="http://schemas.openxmlformats.org/officeDocument/2006/relationships/notesSlide" Target="/ppt/notesSlides/notesSlide6.xml" Id="R464d6bbfbf764b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3d2cde74c4454a" /><Relationship Type="http://schemas.openxmlformats.org/officeDocument/2006/relationships/notesSlide" Target="/ppt/notesSlides/notesSlide7.xml" Id="R95fd7dbe663c4c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4e5cf4a7914433" /><Relationship Type="http://schemas.openxmlformats.org/officeDocument/2006/relationships/image" Target="/ppt/media/image3.png" Id="R93b67df606d04f61" /><Relationship Type="http://schemas.openxmlformats.org/officeDocument/2006/relationships/notesSlide" Target="/ppt/notesSlides/notesSlide8.xml" Id="R621520aa2de643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d869c7434942a0" /><Relationship Type="http://schemas.openxmlformats.org/officeDocument/2006/relationships/image" Target="/ppt/media/image4.png" Id="R0fdbba0ba2c94f38" /><Relationship Type="http://schemas.openxmlformats.org/officeDocument/2006/relationships/notesSlide" Target="/ppt/notesSlides/notesSlide9.xml" Id="Re89e8b5222de4e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a2818085e54093" /><Relationship Type="http://schemas.openxmlformats.org/officeDocument/2006/relationships/image" Target="/ppt/media/image5.png" Id="Rd1deae1044314da5" /><Relationship Type="http://schemas.openxmlformats.org/officeDocument/2006/relationships/notesSlide" Target="/ppt/notesSlides/notesSlide10.xml" Id="R3044104a88e040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9fbe4c940b4279" /><Relationship Type="http://schemas.openxmlformats.org/officeDocument/2006/relationships/notesSlide" Target="/ppt/notesSlides/notesSlide11.xml" Id="R948e80e1e57247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611e33171549bb" /><Relationship Type="http://schemas.openxmlformats.org/officeDocument/2006/relationships/notesSlide" Target="/ppt/notesSlides/notesSlide12.xml" Id="R536ea9745e164e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289bed69b94726" /><Relationship Type="http://schemas.openxmlformats.org/officeDocument/2006/relationships/notesSlide" Target="/ppt/notesSlides/notesSlide13.xml" Id="R3b61f38e99654c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c06e0b695a4d4a" /><Relationship Type="http://schemas.openxmlformats.org/officeDocument/2006/relationships/notesSlide" Target="/ppt/notesSlides/notesSlide14.xml" Id="R1371068e18cb4c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d08dc0c63d4081" /><Relationship Type="http://schemas.openxmlformats.org/officeDocument/2006/relationships/notesSlide" Target="/ppt/notesSlides/notesSlide15.xml" Id="R1c6f69076b7d42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03925-B559-4A3C-8771-121E4790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26F7B37-A56D-490E-A7EB-CFA73C6B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RUSLAN TRUE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F3DD8D0-D47B-44AB-979D-82BA158F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01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35526-0E8C-4BDF-A43E-771D4B7CA5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2459422434668"/>
          <a:srcRect xmlns:a="http://schemas.openxmlformats.org/drawingml/2006/main" l="17682" t="0" r="17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73031-BE76-4846-B885-2BE925D5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4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A620703-1FAD-4F6E-9C38-6758A38B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619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90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690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690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RUSLAN</a:t>
            </a:r>
          </a:p>
          <a:p xmlns:a="http://schemas.openxmlformats.org/drawingml/2006/main">
            <a:pPr>
              <a:defRPr sz="690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690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TRUE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BACA506-22D4-444B-BB01-CDE3A2B7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528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400" b="0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Сайт барбера в Баку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0D3C7D1-3F2E-475E-8094-00F6E5FB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509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Демонстрация интерфейса</a:t>
            </a:r>
          </a:p>
          <a:p xmlns:a="http://schemas.openxmlformats.org/drawingml/2006/main">
            <a:pPr>
              <a:def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и новой системы записи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1A76E271-70F9-475F-9E36-0FDBCC05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ruslantrue.onrender.com</a:t>
            </a:r>
          </a:p>
        </p:txBody>
      </p:sp>
    </p:spTree>
    <p:extLst>
      <p:ext uri="{BB962C8B-B14F-4D97-AF65-F5344CB8AC3E}">
        <p14:creationId xmlns:p14="http://schemas.microsoft.com/office/powerpoint/2010/main" val="738195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F1FD189A-C69B-4D9E-891C-3FEBBF82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Цели и концепция сервиса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7CB1E-DB91-4FDF-9461-CA487E4A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16E6235-18D9-42E0-8179-014E1F6D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RUSLAN TRUE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DFA4A6C-3BFA-40A5-BD67-C5769648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02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C0AB88D-42EC-4D8D-9809-DCE494CA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01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529D0CF-CF69-4C0F-9056-C595946D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0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Выбрать мастера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AD3872E-60F0-4C40-A957-CEF75123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33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Показать стиль Руслана, направления работы и контакт для связи.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E12BB47-CAF9-4486-A675-8C9B2ECD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621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02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AE0864B-B86B-4121-8160-F7381780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2887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0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Понять стоимость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55A4682-E895-4D00-98B2-BF70E754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3333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Дать клиенту точный прайс в AZN до обращения к мастеру.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2EF9517-8027-4AF9-95AD-52C586EA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621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03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89C9F2A9-044C-496F-AF7B-8F55B479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2887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0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Согласовать визит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D294E331-3EAB-41C5-9A3F-BD0F421D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3333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Помочь выбрать дату и час, подготовить заявку и перейти в WhatsApp.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21669BA-4082-4FD3-9B21-008A2220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Формат: личный лендинг с заявкой на запись и подтверждением мастера</a:t>
            </a:r>
          </a:p>
        </p:txBody>
      </p:sp>
    </p:spTree>
    <p:extLst>
      <p:ext uri="{BB962C8B-B14F-4D97-AF65-F5344CB8AC3E}">
        <p14:creationId xmlns:p14="http://schemas.microsoft.com/office/powerpoint/2010/main" val="2843598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CA334344-FB29-4B34-8453-714833ED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Интерфейс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20D1B-1B5F-4AE9-B411-C2199F78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FB232E-4A1C-4591-9E20-F3C3C7BF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RUSLAN TRUE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10EB2C0-7E30-4166-B8D9-09D5B367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ECDD0-D83C-4C74-96A6-6DDF2C25F0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a90dcb4ba4de7"/>
          <a:stretch xmlns:a="http://schemas.openxmlformats.org/drawingml/2006/main"/>
        </p:blipFill>
        <p:spPr>
          <a:xfrm xmlns:a="http://schemas.openxmlformats.org/drawingml/2006/main">
            <a:off x="1750695" y="1524000"/>
            <a:ext cx="5623560" cy="39052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51387-E654-458D-9AB6-0AC6443EC9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b94661df84680"/>
          <a:stretch xmlns:a="http://schemas.openxmlformats.org/drawingml/2006/main"/>
        </p:blipFill>
        <p:spPr>
          <a:xfrm xmlns:a="http://schemas.openxmlformats.org/drawingml/2006/main">
            <a:off x="9066118" y="1428750"/>
            <a:ext cx="2222688" cy="4810125"/>
          </a:xfrm>
          <a:prstGeom xmlns:a="http://schemas.openxmlformats.org/drawingml/2006/main" prst="rect">
            <a:avLst/>
          </a:prstGeom>
        </p:spPr>
      </p:pic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082CDFDD-F69D-4C31-91F3-23D0E15F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65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Крупный первый экран, контрастная типографика, телефон и заметная запись</a:t>
            </a:r>
          </a:p>
        </p:txBody>
      </p:sp>
    </p:spTree>
    <p:extLst>
      <p:ext uri="{BB962C8B-B14F-4D97-AF65-F5344CB8AC3E}">
        <p14:creationId xmlns:p14="http://schemas.microsoft.com/office/powerpoint/2010/main" val="16684901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45E65E8F-30E2-4B18-A767-02194B15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Ключевые возможности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BE6B0-DDA3-4CE6-8547-F5E979CC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A31D831-228A-44E0-91DE-C4EF8D90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RUSLAN TRUE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F772A74-F459-429E-AF2D-91F5B42E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04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EE51CF4-D608-4C41-AE49-31FB1DF3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RU / AZ / EN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2B1C848-2A89-46E1-B6FA-ED14E06F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7381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Смена языка без потери выбранной услуги, даты и времени.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7545E-51F4-4F8D-A40E-63ACADC7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38400"/>
            <a:ext cx="738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75B4628-963C-47F3-8961-7984E3EB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Портфолио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05577ED-1E44-49BE-8B69-C4677F17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86050"/>
            <a:ext cx="7381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Галерея с увеличением фото и переходом к работам в Instagram.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6C137-6811-43CB-8E8B-E115390C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05200"/>
            <a:ext cx="738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77542D9-8EAC-4D60-8B21-0A9E3AD8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Прайс в AZN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AA7588A-8528-439D-A693-7370B39E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52850"/>
            <a:ext cx="7381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Шесть услуг с описаниями и ценами, предоставленными мастером.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8CC6F-6F02-4605-B8A8-F7F0E707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72000"/>
            <a:ext cx="738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13BC5E8-0FC2-4FAC-A04B-00069C32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Мобильная запись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D79C9FB-6BD9-4AFE-99C8-5AABE2E1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9650"/>
            <a:ext cx="7381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Календарь и кнопки времени вместо ручного ввода часа.</a:t>
            </a:r>
          </a:p>
        </p:txBody>
      </p:sp>
    </p:spTree>
    <p:extLst>
      <p:ext uri="{BB962C8B-B14F-4D97-AF65-F5344CB8AC3E}">
        <p14:creationId xmlns:p14="http://schemas.microsoft.com/office/powerpoint/2010/main" val="11029643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01F3AF4F-7360-4B15-9D4C-327D7ADE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Услуги и стоимость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5C5F4-C9DA-47BE-809C-A6BC328E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E1A2E6F-8D33-40EE-B7EC-F7B2FEB6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RUSLAN TRUE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7A281C6-2481-448D-AD48-4E744852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D01A0-4BFE-4D71-A857-B320C59F00CE}"/>
              </a:ext>
            </a:extLst>
          </p:cNvPr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0"/>
                <a:gridCol w="240030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31411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Услуга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484B3D"/>
                      </a:solidFill>
                      <a:prstDash val="solid"/>
                    </a:lnL>
                    <a:lnR w="9525">
                      <a:solidFill>
                        <a:srgbClr val="484B3D"/>
                      </a:solidFill>
                      <a:prstDash val="solid"/>
                    </a:lnR>
                    <a:lnT w="9525">
                      <a:solidFill>
                        <a:srgbClr val="484B3D"/>
                      </a:solidFill>
                      <a:prstDash val="solid"/>
                    </a:lnT>
                    <a:lnB w="9525">
                      <a:solidFill>
                        <a:srgbClr val="484B3D"/>
                      </a:solidFill>
                      <a:prstDash val="solid"/>
                    </a:lnB>
                    <a:solidFill>
                      <a:srgbClr val="D2C2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31411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Цена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484B3D"/>
                      </a:solidFill>
                      <a:prstDash val="solid"/>
                    </a:lnR>
                    <a:lnT w="9525">
                      <a:solidFill>
                        <a:srgbClr val="484B3D"/>
                      </a:solidFill>
                      <a:prstDash val="solid"/>
                    </a:lnT>
                    <a:lnB w="9525">
                      <a:solidFill>
                        <a:srgbClr val="484B3D"/>
                      </a:solidFill>
                      <a:prstDash val="solid"/>
                    </a:lnB>
                    <a:solidFill>
                      <a:srgbClr val="D2C2A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0E9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Мужская стрижка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484B3D"/>
                      </a:solidFill>
                      <a:prstDash val="solid"/>
                    </a:lnL>
                    <a:lnR w="9525">
                      <a:solidFill>
                        <a:srgbClr val="484B3D"/>
                      </a:solidFill>
                      <a:prstDash val="solid"/>
                    </a:lnR>
                    <a:lnB w="9525">
                      <a:solidFill>
                        <a:srgbClr val="484B3D"/>
                      </a:solidFill>
                      <a:prstDash val="solid"/>
                    </a:lnB>
                    <a:solidFill>
                      <a:srgbClr val="2425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0E9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40 AZN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484B3D"/>
                      </a:solidFill>
                      <a:prstDash val="solid"/>
                    </a:lnR>
                    <a:lnB w="9525">
                      <a:solidFill>
                        <a:srgbClr val="484B3D"/>
                      </a:solidFill>
                      <a:prstDash val="solid"/>
                    </a:lnB>
                    <a:solidFill>
                      <a:srgbClr val="24251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0E9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Детская стрижка до 11 лет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484B3D"/>
                      </a:solidFill>
                      <a:prstDash val="solid"/>
                    </a:lnL>
                    <a:lnR w="9525">
                      <a:solidFill>
                        <a:srgbClr val="484B3D"/>
                      </a:solidFill>
                      <a:prstDash val="solid"/>
                    </a:lnR>
                    <a:lnB w="9525">
                      <a:solidFill>
                        <a:srgbClr val="484B3D"/>
                      </a:solidFill>
                      <a:prstDash val="solid"/>
                    </a:lnB>
                    <a:solidFill>
                      <a:srgbClr val="2425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0E9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35 AZN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484B3D"/>
                      </a:solidFill>
                      <a:prstDash val="solid"/>
                    </a:lnR>
                    <a:lnB w="9525">
                      <a:solidFill>
                        <a:srgbClr val="484B3D"/>
                      </a:solidFill>
                      <a:prstDash val="solid"/>
                    </a:lnB>
                    <a:solidFill>
                      <a:srgbClr val="24251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0E9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Коррекция бороды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484B3D"/>
                      </a:solidFill>
                      <a:prstDash val="solid"/>
                    </a:lnL>
                    <a:lnR w="9525">
                      <a:solidFill>
                        <a:srgbClr val="484B3D"/>
                      </a:solidFill>
                      <a:prstDash val="solid"/>
                    </a:lnR>
                    <a:lnB w="9525">
                      <a:solidFill>
                        <a:srgbClr val="484B3D"/>
                      </a:solidFill>
                      <a:prstDash val="solid"/>
                    </a:lnB>
                    <a:solidFill>
                      <a:srgbClr val="2425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0E9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25 AZN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484B3D"/>
                      </a:solidFill>
                      <a:prstDash val="solid"/>
                    </a:lnR>
                    <a:lnB w="9525">
                      <a:solidFill>
                        <a:srgbClr val="484B3D"/>
                      </a:solidFill>
                      <a:prstDash val="solid"/>
                    </a:lnB>
                    <a:solidFill>
                      <a:srgbClr val="24251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0E9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Стрижка + коррекция бороды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484B3D"/>
                      </a:solidFill>
                      <a:prstDash val="solid"/>
                    </a:lnL>
                    <a:lnR w="9525">
                      <a:solidFill>
                        <a:srgbClr val="484B3D"/>
                      </a:solidFill>
                      <a:prstDash val="solid"/>
                    </a:lnR>
                    <a:lnB w="9525">
                      <a:solidFill>
                        <a:srgbClr val="484B3D"/>
                      </a:solidFill>
                      <a:prstDash val="solid"/>
                    </a:lnB>
                    <a:solidFill>
                      <a:srgbClr val="2425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0E9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50 AZN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484B3D"/>
                      </a:solidFill>
                      <a:prstDash val="solid"/>
                    </a:lnR>
                    <a:lnB w="9525">
                      <a:solidFill>
                        <a:srgbClr val="484B3D"/>
                      </a:solidFill>
                      <a:prstDash val="solid"/>
                    </a:lnB>
                    <a:solidFill>
                      <a:srgbClr val="24251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0E9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Пилинг кожи головы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484B3D"/>
                      </a:solidFill>
                      <a:prstDash val="solid"/>
                    </a:lnL>
                    <a:lnR w="9525">
                      <a:solidFill>
                        <a:srgbClr val="484B3D"/>
                      </a:solidFill>
                      <a:prstDash val="solid"/>
                    </a:lnR>
                    <a:lnB w="9525">
                      <a:solidFill>
                        <a:srgbClr val="484B3D"/>
                      </a:solidFill>
                      <a:prstDash val="solid"/>
                    </a:lnB>
                    <a:solidFill>
                      <a:srgbClr val="2425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0E9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30 AZN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484B3D"/>
                      </a:solidFill>
                      <a:prstDash val="solid"/>
                    </a:lnR>
                    <a:lnB w="9525">
                      <a:solidFill>
                        <a:srgbClr val="484B3D"/>
                      </a:solidFill>
                      <a:prstDash val="solid"/>
                    </a:lnB>
                    <a:solidFill>
                      <a:srgbClr val="24251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0E9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Укладка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484B3D"/>
                      </a:solidFill>
                      <a:prstDash val="solid"/>
                    </a:lnL>
                    <a:lnR w="9525">
                      <a:solidFill>
                        <a:srgbClr val="484B3D"/>
                      </a:solidFill>
                      <a:prstDash val="solid"/>
                    </a:lnR>
                    <a:lnB w="9525">
                      <a:solidFill>
                        <a:srgbClr val="484B3D"/>
                      </a:solidFill>
                      <a:prstDash val="solid"/>
                    </a:lnB>
                    <a:solidFill>
                      <a:srgbClr val="2425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0E9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20 AZN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484B3D"/>
                      </a:solidFill>
                      <a:prstDash val="solid"/>
                    </a:lnR>
                    <a:lnB w="9525">
                      <a:solidFill>
                        <a:srgbClr val="484B3D"/>
                      </a:solidFill>
                      <a:prstDash val="solid"/>
                    </a:lnB>
                    <a:solidFill>
                      <a:srgbClr val="24251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227A608-377E-4E2C-B8A7-EDF43870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65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Стрижки включают мытье до и после и укладку. Для бороды предусмотрен уход.</a:t>
            </a:r>
          </a:p>
        </p:txBody>
      </p:sp>
    </p:spTree>
    <p:extLst>
      <p:ext uri="{BB962C8B-B14F-4D97-AF65-F5344CB8AC3E}">
        <p14:creationId xmlns:p14="http://schemas.microsoft.com/office/powerpoint/2010/main" val="212507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0">
            <a:extLst xmlns:a="http://schemas.openxmlformats.org/drawingml/2006/main">
              <a:ext uri="{FF2B5EF4-FFF2-40B4-BE49-F238E27FC236}">
                <a16:creationId xmlns:a16="http://schemas.microsoft.com/office/drawing/2014/main" id="{AC64ECDE-BCFD-453B-A5D0-9BD0244D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Архитектура текущей версии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7C135-7AB8-4C7B-AB6E-CD527DAB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9674F9C-2819-4660-8778-B430BD44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RUSLAN TRUE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588277E-9664-4D54-B0E8-6940E9D2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F4BCC-F50E-4D61-803C-DE8D57BC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F0573D5-0D17-4734-9F3F-1E228D3D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7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Render + GitHub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9A690E4-A31E-4125-955F-1B008D02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Публикация HTML, CSS, JS</a:t>
            </a:r>
          </a:p>
          <a:p xmlns:a="http://schemas.openxmlformats.org/drawingml/2006/main">
            <a:pPr>
              <a:def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и локальных изображений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396BD-60AA-4264-8B36-8D2EF073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287D1F-F3BA-4740-B7B6-03626C2F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907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7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Браузер клиента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8349297-F357-4FBF-89BE-4F02F454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2885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Интерфейс, три языка,</a:t>
            </a:r>
          </a:p>
          <a:p xmlns:a="http://schemas.openxmlformats.org/drawingml/2006/main">
            <a:pPr>
              <a:def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валидация и календарь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2B3AD-D391-4651-9390-12FF9078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1925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A730BBC9-6006-4893-9DA4-846008C4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7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Настройки мастера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048B9BD4-B548-4B9F-955B-DEBA77C7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2885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Прайс и занятые часы</a:t>
            </a:r>
          </a:p>
          <a:p xmlns:a="http://schemas.openxmlformats.org/drawingml/2006/main">
            <a:pPr>
              <a:def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в settings.js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0D48F-4F0C-461A-841F-597C4AA2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860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2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F28794-40B8-45C4-8945-CAAB949D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860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2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258D54-5894-4BD7-AE22-12FF067B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9CCABC63-7D81-4E32-A6E1-48C0D249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7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Форма записи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D414E165-1EA1-4A69-A3BD-6119DA0C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Услуга, дата, час,</a:t>
            </a:r>
          </a:p>
          <a:p xmlns:a="http://schemas.openxmlformats.org/drawingml/2006/main">
            <a:pPr>
              <a:def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имя и телефон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8F50C3-FB78-4C2B-BEFA-CB43EF88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7341F414-46AD-4A0A-B9D5-182BB6E0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767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7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WhatsApp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AFBEDD28-6F64-48B6-AC61-A89C5536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1485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Клиент отправляет</a:t>
            </a:r>
          </a:p>
          <a:p xmlns:a="http://schemas.openxmlformats.org/drawingml/2006/main">
            <a:pPr>
              <a:def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подготовленное сообщение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D6A41-935B-4659-9BCC-5863C02C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0525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100DB36D-8FDD-41AB-B40B-E80A3F93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767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7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Подтверждение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ADF9D165-F5FE-4D06-898F-BA08EA3F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1485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Руслан согласует визит</a:t>
            </a:r>
          </a:p>
          <a:p xmlns:a="http://schemas.openxmlformats.org/drawingml/2006/main">
            <a:pPr>
              <a:def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и обновляет занятость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4E730A-AE44-44A2-B8CF-E883876B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720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2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FE3758-A90C-4885-A50D-07F51DC1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720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2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51058BF9-A255-490D-BCBC-0375E427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00" b="0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Сервер и база записей сейчас не используются</a:t>
            </a:r>
          </a:p>
        </p:txBody>
      </p:sp>
    </p:spTree>
    <p:extLst>
      <p:ext uri="{BB962C8B-B14F-4D97-AF65-F5344CB8AC3E}">
        <p14:creationId xmlns:p14="http://schemas.microsoft.com/office/powerpoint/2010/main" val="535931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2C2A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14D029C1-4F32-4B75-A06D-2734B937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rPr>
              <a:t>Новая модель выбора даты и времени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D760D-39FD-4E68-A913-DDAAF71A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8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BE2ECE9-15A7-4080-83F9-1B11B737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900" b="1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rPr>
              <a:t>RUSLAN TRUE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E5A06BA-B7D7-469A-B8F8-1DC56342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200" b="0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rPr>
              <a:t>07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CA40162-766F-4C4C-94AB-DF14B84A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550" b="1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rPr>
              <a:t>Раньше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1D9EFA3-B4A2-4496-A43B-D0CAABCF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00" b="0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rPr>
              <a:t>Отдельные поля даты и времени.</a:t>
            </a:r>
          </a:p>
          <a:p xmlns:a="http://schemas.openxmlformats.org/drawingml/2006/main">
            <a:pPr>
              <a:defRPr sz="2100" b="0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00" b="0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rPr>
              <a:t>Клиент мог указать минуты</a:t>
            </a:r>
          </a:p>
          <a:p xmlns:a="http://schemas.openxmlformats.org/drawingml/2006/main">
            <a:pPr>
              <a:defRPr sz="2100" b="0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00" b="0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rPr>
              <a:t>и не видел список часов.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B8603F0-D5F6-4027-82C0-A263EDAD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287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550" b="1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rPr>
              <a:t>Сейчас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D621B91-B998-433D-BA14-F63EFA0F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00" b="0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rPr>
              <a:t>Визуальный календарь.</a:t>
            </a:r>
          </a:p>
          <a:p xmlns:a="http://schemas.openxmlformats.org/drawingml/2006/main">
            <a:pPr>
              <a:defRPr sz="2100" b="0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00" b="0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rPr>
              <a:t>После выбора дня появляются</a:t>
            </a:r>
          </a:p>
          <a:p xmlns:a="http://schemas.openxmlformats.org/drawingml/2006/main">
            <a:pPr>
              <a:defRPr sz="2100" b="0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00" b="0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rPr>
              <a:t>кнопки часовых слотов.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A2EB7-C2F0-4C57-A802-665F7296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90675"/>
            <a:ext cx="9525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8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832B9B7-80D8-4021-81A3-341F2933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000" b="1">
                <a:solidFill>
                  <a:srgbClr val="131411"/>
                </a:solidFill>
                <a:latin typeface="Noto Sans Display"/>
                <a:ea typeface="Noto Sans Display"/>
                <a:cs typeface="Noto Sans Display"/>
              </a:rPr>
              <a:t>Шаг времени фиксирован: 60 минут</a:t>
            </a:r>
          </a:p>
        </p:txBody>
      </p:sp>
    </p:spTree>
    <p:extLst>
      <p:ext uri="{BB962C8B-B14F-4D97-AF65-F5344CB8AC3E}">
        <p14:creationId xmlns:p14="http://schemas.microsoft.com/office/powerpoint/2010/main" val="4254123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3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5DB2D847-F5AA-4169-BF70-08310CB0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Шаг 1. Выбор дня в календаре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E182C-696B-4D73-B486-230A2B76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3CF7628-8EE0-4BB0-A59E-3BE6770D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RUSLAN TRUE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3943DA1-A68C-4E9A-BC8A-6C185328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C44FD-DDB2-4610-9849-A85AD6BC2E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67df606d04f61"/>
          <a:stretch xmlns:a="http://schemas.openxmlformats.org/drawingml/2006/main"/>
        </p:blipFill>
        <p:spPr>
          <a:xfrm xmlns:a="http://schemas.openxmlformats.org/drawingml/2006/main">
            <a:off x="6846457" y="1428750"/>
            <a:ext cx="4404585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5B7F1E1-2C1B-4C48-AB24-CAA64015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42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32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Месяц и дата видны сразу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6CC42863-A92F-4E82-897F-CD65F8AB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381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Клиент переключает месяц</a:t>
            </a:r>
          </a:p>
          <a:p xmlns:a="http://schemas.openxmlformats.org/drawingml/2006/main">
            <a:pPr>
              <a:def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и выбирает конкретный день.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C382FB6-06D2-438D-9A02-48A07E1C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476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Прошедшие даты недоступны.</a:t>
            </a:r>
          </a:p>
          <a:p xmlns:a="http://schemas.openxmlformats.org/drawingml/2006/main">
            <a:pPr>
              <a:def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Выбранный день выделен.</a:t>
            </a:r>
          </a:p>
          <a:p xmlns:a="http://schemas.openxmlformats.org/drawingml/2006/main">
            <a:pPr>
              <a:def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Поддерживаются клавиши со стрелками.</a:t>
            </a:r>
          </a:p>
        </p:txBody>
      </p:sp>
    </p:spTree>
    <p:extLst>
      <p:ext uri="{BB962C8B-B14F-4D97-AF65-F5344CB8AC3E}">
        <p14:creationId xmlns:p14="http://schemas.microsoft.com/office/powerpoint/2010/main" val="19181613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6126E339-8D52-4195-A52A-2345D0C9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Шаг 2. Выбор часового слота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E42F3-D1EC-4B52-9286-1BAF47A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B71945A-518F-428B-95E8-EAA6EF55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RUSLAN TRUE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2C8BDEB-C129-4DA3-8A4E-FF7A8B38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C2D56-2332-4456-BEEE-A207A259E9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bba0ba2c94f38"/>
          <a:stretch xmlns:a="http://schemas.openxmlformats.org/drawingml/2006/main"/>
        </p:blipFill>
        <p:spPr>
          <a:xfrm xmlns:a="http://schemas.openxmlformats.org/drawingml/2006/main">
            <a:off x="6667500" y="1694175"/>
            <a:ext cx="4667250" cy="3993526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64AC3B1-785F-424D-B78E-D57CC7B8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52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9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9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00:00 … 23:00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AF895843-6F19-4ED6-97A7-C42C25A2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24 возможных старта в сутки</a:t>
            </a:r>
          </a:p>
          <a:p xmlns:a="http://schemas.openxmlformats.org/drawingml/2006/main">
            <a:pPr>
              <a:def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с интервалом ровно 1 час.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92C4C9B9-DF0D-4A2A-A4D5-1144AFEC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381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График пока не ограничен</a:t>
            </a:r>
          </a:p>
          <a:p xmlns:a="http://schemas.openxmlformats.org/drawingml/2006/main">
            <a:pPr>
              <a:def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рабочими часами. Мастер</a:t>
            </a:r>
          </a:p>
          <a:p xmlns:a="http://schemas.openxmlformats.org/drawingml/2006/main">
            <a:pPr>
              <a:def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подтверждает удобное время лично.</a:t>
            </a:r>
          </a:p>
        </p:txBody>
      </p:sp>
    </p:spTree>
    <p:extLst>
      <p:ext uri="{BB962C8B-B14F-4D97-AF65-F5344CB8AC3E}">
        <p14:creationId xmlns:p14="http://schemas.microsoft.com/office/powerpoint/2010/main" val="9388689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3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3C48F33-8397-4928-88DE-F8053839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Доступный, занятый и прошедший час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2774B-CAF0-41EB-B496-5F9191E8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8610F51-D129-4A7A-90E9-01B37746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RUSLAN TRUE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ED6074B-29D7-43AA-A1BC-31B264AD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284A7-7103-420A-9549-BA15BFAF1A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eae1044314da5"/>
          <a:stretch xmlns:a="http://schemas.openxmlformats.org/drawingml/2006/main"/>
        </p:blipFill>
        <p:spPr>
          <a:xfrm xmlns:a="http://schemas.openxmlformats.org/drawingml/2006/main">
            <a:off x="6667500" y="1694175"/>
            <a:ext cx="4667250" cy="3993526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22F9FAF-F833-47EB-AEC1-4F680FCD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Демонстрационный сценарий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6AE9B17-5ACF-41FA-BC41-32885C1D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Дата: 26 октября 2026</a:t>
            </a:r>
          </a:p>
          <a:p xmlns:a="http://schemas.openxmlformats.org/drawingml/2006/main">
            <a:pPr>
              <a:def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Текущее время: 09:30 по Баку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ED98CDE5-719C-4454-AC15-6B273E7E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23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09:00 уже прошло</a:t>
            </a:r>
          </a:p>
          <a:p xmlns:a="http://schemas.openxmlformats.org/drawingml/2006/main">
            <a:pPr>
              <a:defRPr sz="21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10:00 занят мастером</a:t>
            </a:r>
          </a:p>
          <a:p xmlns:a="http://schemas.openxmlformats.org/drawingml/2006/main">
            <a:pPr>
              <a:defRPr sz="21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00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11:00 выбран клиентом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5D799778-BB4D-4B8F-B187-F7543F00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Серые кнопки нельзя выбрать</a:t>
            </a:r>
          </a:p>
        </p:txBody>
      </p:sp>
    </p:spTree>
    <p:extLst>
      <p:ext uri="{BB962C8B-B14F-4D97-AF65-F5344CB8AC3E}">
        <p14:creationId xmlns:p14="http://schemas.microsoft.com/office/powerpoint/2010/main" val="19332007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3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0">
            <a:extLst xmlns:a="http://schemas.openxmlformats.org/drawingml/2006/main">
              <a:ext uri="{FF2B5EF4-FFF2-40B4-BE49-F238E27FC236}">
                <a16:creationId xmlns:a16="http://schemas.microsoft.com/office/drawing/2014/main" id="{C660C285-993A-41FA-9C1B-C76B60CD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Проверки перед отправкой заявки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7A3D0-0D0A-4AF4-A466-E2D297D7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F78B2F-7DF7-45C4-810C-A0CD8DE5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RUSLAN TRUE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3571B84-CCF9-4039-AC1F-96D3BADC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11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A7A531A-B992-43E1-9E53-D775A8CB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4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01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89E0705-B9DD-48DB-9DAB-FFBBF291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192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025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Один час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01CD172-226E-4BB3-97AE-CEC168D3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383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Форма принимает только формат HH:00.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A7B7194-E16E-420E-B756-03BA3C68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4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02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2B51198-31C8-49B1-A994-0A8143B7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860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025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Часовой пояс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CA37124-A390-4563-8F92-87858483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Все даты и часы относятся к Баку, UTC+4.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CED3361-052E-450A-A340-3E0CE0A8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4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03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3B67C679-B499-492C-94F7-06503A28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528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025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Смена даты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8F97EF5-1087-47EF-843D-0DAD80A4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719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Выбранный час сбрасывается для нового дня.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6A78BA1-9F02-4E23-87F4-13A13AAE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4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04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2C9E044A-47E1-4F65-865D-1696D822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196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025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Повторная проверка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5F02E055-668A-4690-A680-787BDAA3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387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Прошедший или занятый слот блокируется перед отправкой.</a:t>
            </a:r>
          </a:p>
        </p:txBody>
      </p:sp>
    </p:spTree>
    <p:extLst>
      <p:ext uri="{BB962C8B-B14F-4D97-AF65-F5344CB8AC3E}">
        <p14:creationId xmlns:p14="http://schemas.microsoft.com/office/powerpoint/2010/main" val="4879607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0">
            <a:extLst xmlns:a="http://schemas.openxmlformats.org/drawingml/2006/main">
              <a:ext uri="{FF2B5EF4-FFF2-40B4-BE49-F238E27FC236}">
                <a16:creationId xmlns:a16="http://schemas.microsoft.com/office/drawing/2014/main" id="{1E5C065E-B18E-477C-96E8-AC08C966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Путь клиента до подтверждения визита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406E1-698F-46D1-80D8-01710E9B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3B3673E-900C-47C8-925B-6E7B0CBC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RUSLAN TRUE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51EE593-3EC4-4FD6-9E57-3FBF4168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018CA-9097-45E9-B124-A4430976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0764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58563E6-B2EC-4CF5-BBA9-C91EFCC0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01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C66EAFC-9EF6-4356-8901-24068A66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171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9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Услуга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5A3C737-B925-4678-A8D8-8A7B2A22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Цена и состав</a:t>
            </a:r>
          </a:p>
          <a:p xmlns:a="http://schemas.openxmlformats.org/drawingml/2006/main">
            <a:pPr>
              <a:def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процедуры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E1B2C-946E-4693-B5A5-C1A246C4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809750"/>
            <a:ext cx="20764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1119CCA-04A2-42D6-95AC-33914CB3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0002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9E8401B-C95F-4082-AEB1-DE1C2DE1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771775"/>
            <a:ext cx="171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9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Дата и час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E40D4D6-AB96-4534-8E0A-92AD11E0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62375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Календарь и</a:t>
            </a:r>
          </a:p>
          <a:p xmlns:a="http://schemas.openxmlformats.org/drawingml/2006/main">
            <a:pPr>
              <a:def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доступный слот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1CBD2-3439-4B39-AD90-E8855949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09750"/>
            <a:ext cx="20764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619C4F7A-0764-4858-96BF-2E60DCA0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002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03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EC584E0-7EE1-40BF-888C-94DF2A58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71775"/>
            <a:ext cx="171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9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Контакты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33FFF8A1-4765-4975-8AA3-718ED94E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62375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Имя, телефон</a:t>
            </a:r>
          </a:p>
          <a:p xmlns:a="http://schemas.openxmlformats.org/drawingml/2006/main">
            <a:pPr>
              <a:def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и согласие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066B33-673A-489C-BC70-85C0B5C3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809750"/>
            <a:ext cx="20764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1AB5FB1D-B162-4753-B586-61190E61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0002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04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74949824-2ADB-4ABA-892E-03C8917B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771775"/>
            <a:ext cx="171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9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WhatsApp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EF8ACC2D-21B8-4AD2-8C1F-108E72E7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762375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Клиент нажимает</a:t>
            </a:r>
          </a:p>
          <a:p xmlns:a="http://schemas.openxmlformats.org/drawingml/2006/main">
            <a:pPr>
              <a:def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«Отправить»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0F55E8-766B-4730-A151-AFA2816C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09750"/>
            <a:ext cx="20764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4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4CF6CFC6-1339-4F1B-BD8E-E5F37E99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002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05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6A58A087-39D1-4BB1-88F7-58D92A0C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71775"/>
            <a:ext cx="171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9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Ответ мастера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377B5CE1-C4C4-47BE-B862-04132D45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62375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Руслан подтверждает</a:t>
            </a:r>
          </a:p>
          <a:p xmlns:a="http://schemas.openxmlformats.org/drawingml/2006/main">
            <a:pPr>
              <a:def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дату и время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075289B9-A890-4A4A-811F-0FD4DB51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250" b="0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Подтвержденный визит появляется после личного ответа Руслана</a:t>
            </a:r>
          </a:p>
        </p:txBody>
      </p:sp>
    </p:spTree>
    <p:extLst>
      <p:ext uri="{BB962C8B-B14F-4D97-AF65-F5344CB8AC3E}">
        <p14:creationId xmlns:p14="http://schemas.microsoft.com/office/powerpoint/2010/main" val="9441071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3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9792C6E6-4EBA-41E1-A6D7-E3B91C3A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Заявка в WhatsApp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336BF-2595-4523-AC84-1A68C4B0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802EEFD-9641-4832-850B-A0C358B7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RUSLAN TRUE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5AF40FF-0503-46EF-BE3E-2F1AE972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AA78F-97B1-4029-9E8E-D5B4E5BB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381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710FF79-FC99-4722-975F-6B0E33D9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2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ПРИМЕР ЗАЯВКИ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A1F23E5-7E3E-4B40-A787-C1E8C80C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5810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Имя: Алексей</a:t>
            </a:r>
          </a:p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Телефон: +994 50 000 00 00</a:t>
            </a:r>
          </a:p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Услуга: Мужская стрижка, 40 AZN</a:t>
            </a:r>
          </a:p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Дата: 2026-11-01</a:t>
            </a:r>
          </a:p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Время: 14:00, Asia/Baku (UTC+4)</a:t>
            </a:r>
          </a:p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Статус: ожидает подтверждения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1B5E560-E12A-4E31-9A86-CD38CD95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04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После формы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C76BAE2-4D04-474F-911A-15A98A51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24125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Открывается готовое сообщение.</a:t>
            </a:r>
          </a:p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Клиент отправляет его сам.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4EBC946-4921-44F1-B09A-69ECA1CC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43375"/>
            <a:ext cx="4048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Пример ответа мастера:</a:t>
            </a:r>
          </a:p>
          <a:p xmlns:a="http://schemas.openxmlformats.org/drawingml/2006/main">
            <a:pPr>
              <a:def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«Подтверждаю: 1 ноября,</a:t>
            </a:r>
          </a:p>
          <a:p xmlns:a="http://schemas.openxmlformats.org/drawingml/2006/main">
            <a:pPr>
              <a:def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14:00. До встречи».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7442576-9F38-4419-B9F9-9500C589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5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Демонстрационный пример, без отправки сообщения</a:t>
            </a:r>
          </a:p>
        </p:txBody>
      </p:sp>
    </p:spTree>
    <p:extLst>
      <p:ext uri="{BB962C8B-B14F-4D97-AF65-F5344CB8AC3E}">
        <p14:creationId xmlns:p14="http://schemas.microsoft.com/office/powerpoint/2010/main" val="1101261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3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B17FE46A-0368-4718-9B85-EB6C8952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Как мастер обновляет занятые часы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0C13C-E9BC-4585-937B-82F01603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66D619-FB8D-4BBE-91D7-08E3DF42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RUSLAN TRUE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502BCB4-6841-496B-B6CB-0FC76BED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14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6E64159-A761-4088-BC88-5882D44E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25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Подтвержденная запись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CF1FC13-B251-4786-B8E0-49BAE4C3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Руслан добавляет дату и часы</a:t>
            </a:r>
          </a:p>
          <a:p xmlns:a="http://schemas.openxmlformats.org/drawingml/2006/main">
            <a:pPr>
              <a:def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в busySlots в settings.js</a:t>
            </a:r>
          </a:p>
          <a:p xmlns:a="http://schemas.openxmlformats.org/drawingml/2006/main">
            <a:pPr>
              <a:def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02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и публикует обновление.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E762BFF-3CEF-4EFA-AAF0-0B25D613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5143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busySlots: {</a:t>
            </a:r>
          </a:p>
          <a:p xmlns:a="http://schemas.openxmlformats.org/drawingml/2006/main">
            <a:pPr>
              <a:defRPr sz="1875" b="0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  '2026-11-01': ['10:00', '11:00']</a:t>
            </a:r>
          </a:p>
          <a:p xmlns:a="http://schemas.openxmlformats.org/drawingml/2006/main">
            <a:pPr>
              <a:defRPr sz="1875" b="0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}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6E40143-A1D6-46E6-9CF3-3E95E3E0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48125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Для визита на два часа</a:t>
            </a:r>
          </a:p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нужно закрыть оба старта.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8D74016-14B8-4874-87BF-8DC915CB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Текущий список пуст. Пример справа показывает формат настройки.</a:t>
            </a:r>
          </a:p>
        </p:txBody>
      </p:sp>
    </p:spTree>
    <p:extLst>
      <p:ext uri="{BB962C8B-B14F-4D97-AF65-F5344CB8AC3E}">
        <p14:creationId xmlns:p14="http://schemas.microsoft.com/office/powerpoint/2010/main" val="19458922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3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7F246B64-F4A9-423C-B8EE-25F95847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Результат и дальнейшее развитие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DDFE0-085C-4294-8092-FDF1404A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4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AB519F-63D3-4A63-A9C7-91B8251C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900" b="1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RUSLAN TRUE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7C30030-EF02-4C0E-A8C6-3A8BE7D7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20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15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36B2D45-064B-4E34-A20E-7D86D4F7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4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Уже работает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D393B62-F0ED-43B4-89CF-8B3026CA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09587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Календарь и слоты через час</a:t>
            </a:r>
          </a:p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Блокировка прошлых и занятых часов</a:t>
            </a:r>
          </a:p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Три языка и мобильный интерфейс</a:t>
            </a:r>
          </a:p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Готовая заявка в WhatsApp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474D0DD-C73C-4912-AFDA-F99158F2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400" b="1">
                <a:solidFill>
                  <a:srgbClr val="D2C2A3"/>
                </a:solidFill>
                <a:latin typeface="Noto Sans Display"/>
                <a:ea typeface="Noto Sans Display"/>
                <a:cs typeface="Noto Sans Display"/>
              </a:rPr>
              <a:t>Следующие этапы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1C59354-E9D6-4DEC-BAF2-68F8675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500062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Календарь мастера с личным доступом</a:t>
            </a:r>
          </a:p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Единая база записей</a:t>
            </a:r>
          </a:p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Защита от двойного бронирования</a:t>
            </a:r>
          </a:p>
          <a:p xmlns:a="http://schemas.openxmlformats.org/drawingml/2006/main">
            <a:pPr>
              <a:def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Email и напоминания после настройки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3373D80-0F0E-40B0-BC18-DF2EF482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150" b="1">
                <a:solidFill>
                  <a:srgbClr val="F1F0E9"/>
                </a:solidFill>
                <a:latin typeface="Noto Sans Display"/>
                <a:ea typeface="Noto Sans Display"/>
                <a:cs typeface="Noto Sans Display"/>
              </a:rPr>
              <a:t>ruslantrue.onrender.com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79B7389-DB93-4CB2-AB1C-AE7F756B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650" b="0">
                <a:solidFill>
                  <a:srgbClr val="B2B5A8"/>
                </a:solidFill>
                <a:latin typeface="Noto Sans Display"/>
                <a:ea typeface="Noto Sans Display"/>
                <a:cs typeface="Noto Sans Display"/>
              </a:rPr>
              <a:t>Ожидаемый эффект: понятнее выбор визита и меньше уточнений в переписке</a:t>
            </a:r>
          </a:p>
        </p:txBody>
      </p:sp>
    </p:spTree>
    <p:extLst>
      <p:ext uri="{BB962C8B-B14F-4D97-AF65-F5344CB8AC3E}">
        <p14:creationId xmlns:p14="http://schemas.microsoft.com/office/powerpoint/2010/main" val="2048131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2026-10-26T15:59:38.1800000Z</dcterms:created>
  <dcterms:modified xsi:type="dcterms:W3CDTF">2026-10-26T15:59:38.1800000Z</dcterms:modified>
</coreProperties>
</file>